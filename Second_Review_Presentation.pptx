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Enhanced Heart Disease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Industry Specialization Project • Second Review •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2D323C"/>
                </a:solidFill>
              </a:defRPr>
            </a:pPr>
            <a:r>
              <a:t>End-to-end machine-learning prototype for binary classification on a tabular heart-disease dataset</a:t>
            </a:r>
          </a:p>
          <a:p>
            <a:pPr>
              <a:spcAft>
                <a:spcPts val="1300"/>
              </a:spcAft>
              <a:defRPr sz="2300">
                <a:solidFill>
                  <a:srgbClr val="2D323C"/>
                </a:solidFill>
              </a:defRPr>
            </a:pPr>
            <a:r>
              <a:t>Data quality audit, leakage-safe preprocessing, model comparison, evaluation and interactive demo</a:t>
            </a:r>
          </a:p>
          <a:p>
            <a:pPr>
              <a:spcAft>
                <a:spcPts val="1300"/>
              </a:spcAft>
              <a:defRPr sz="2300">
                <a:solidFill>
                  <a:srgbClr val="2D323C"/>
                </a:solidFill>
              </a:defRPr>
            </a:pPr>
            <a:r>
              <a:t>Presented by: [Your Name]  |  Guide: [Guide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Academic prototype only — not a medical diagnostic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Heart disease-related datasets contain multiple clinical/lifestyle features that can be explored with supervised learning.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Objective: create a reproducible pipeline that compares classifiers and demonstrates a prediction workflow.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Goals: validate data, reduce duplicate-row leakage risk, evaluate with multiple metrics, save a reusable model, and expose a simple UI.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Scope: educational experimentation on the supplied dataset; no diagnosis, treatment advice, or clinical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Dataset &amp; Data Quality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Input file: heart.csv • 1,025 original rows • 13 input features + binary target.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Data-quality finding: 723 exact duplicate rows were found and removed before splitting.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Final dataset: 302 unique rows • no missing values in the uploaded CSV.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Split after deduplication: 241 training rows (80%) and 61 test rows (20%), stratified by target.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The dataset target is used as supplied: target=1 is the positive class; target=0 is the negative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Technical Architecture &amp;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423160"/>
            <a:ext cx="132588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46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2423160"/>
            <a:ext cx="132588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46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Validate +</a:t>
            </a:r>
          </a:p>
          <a:p>
            <a:pPr algn="ctr">
              <a:defRPr sz="1300" b="1"/>
            </a:pPr>
            <a:r>
              <a:t>Deduplicate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423160"/>
            <a:ext cx="132588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46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Stratified</a:t>
            </a:r>
          </a:p>
          <a:p>
            <a:pPr algn="ctr">
              <a:defRPr sz="1300" b="1"/>
            </a:pPr>
            <a:r>
              <a:t>Train/Test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2423160"/>
            <a:ext cx="132588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46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Preprocess</a:t>
            </a:r>
          </a:p>
          <a:p>
            <a:pPr algn="ctr">
              <a:defRPr sz="1300" b="1"/>
            </a:pPr>
            <a:r>
              <a:t>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423160"/>
            <a:ext cx="132588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46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Model CV +</a:t>
            </a:r>
          </a:p>
          <a:p>
            <a:pPr algn="ctr">
              <a:defRPr sz="1300" b="1"/>
            </a:pPr>
            <a:r>
              <a:t>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69880" y="2423160"/>
            <a:ext cx="137160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46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Metrics +</a:t>
            </a:r>
          </a:p>
          <a:p>
            <a:pPr algn="ctr">
              <a:defRPr sz="1300" b="1"/>
            </a:pPr>
            <a:r>
              <a:t>Streamlit UI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2697480"/>
            <a:ext cx="411480" cy="274320"/>
          </a:xfrm>
          <a:prstGeom prst="rightArrow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977639" y="2697480"/>
            <a:ext cx="411480" cy="274320"/>
          </a:xfrm>
          <a:prstGeom prst="rightArrow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126480" y="2697480"/>
            <a:ext cx="411480" cy="274320"/>
          </a:xfrm>
          <a:prstGeom prst="rightArrow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229600" y="2697480"/>
            <a:ext cx="411480" cy="274320"/>
          </a:xfrm>
          <a:prstGeom prst="rightArrow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0058400" y="2697480"/>
            <a:ext cx="411480" cy="274320"/>
          </a:xfrm>
          <a:prstGeom prst="rightArrow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23C"/>
                </a:solidFill>
              </a:defRPr>
            </a:pPr>
            <a:r>
              <a:t>Imputation, scaling and one-hot encoding are fitted inside each scikit-learn pipeline/fold.</a:t>
            </a:r>
          </a:p>
          <a:p>
            <a:pPr>
              <a:spcAft>
                <a:spcPts val="1300"/>
              </a:spcAft>
              <a:defRPr sz="1800">
                <a:solidFill>
                  <a:srgbClr val="2D323C"/>
                </a:solidFill>
              </a:defRPr>
            </a:pPr>
            <a:r>
              <a:t>Four candidates: Logistic Regression, Random Forest, Extra Trees and Gradient Boosting.</a:t>
            </a:r>
          </a:p>
          <a:p>
            <a:pPr>
              <a:spcAft>
                <a:spcPts val="1300"/>
              </a:spcAft>
              <a:defRPr sz="1800">
                <a:solidFill>
                  <a:srgbClr val="2D323C"/>
                </a:solidFill>
              </a:defRPr>
            </a:pPr>
            <a:r>
              <a:t>Model selection uses mean training-only 5-fold CV ROC-AUC (tie-break: CV F1).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Implementation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Python + pandas: loading, schema checks, duplicate removal and dataset handling.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scikit-learn: ColumnTransformer, Pipeline, stratified splitting, cross-validation, models and metrics.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joblib: save/load the complete preprocessing-and-model pipeline.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Matplotlib: confusion matrix and ROC curve outputs.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Streamlit: interactive form and prediction display.</a:t>
            </a:r>
          </a:p>
          <a:p>
            <a:pPr>
              <a:spcAft>
                <a:spcPts val="1300"/>
              </a:spcAft>
              <a:defRPr sz="2000">
                <a:solidFill>
                  <a:srgbClr val="2D323C"/>
                </a:solidFill>
              </a:defRPr>
            </a:pPr>
            <a:r>
              <a:t>Artifacts: model_comparison.csv, evaluation.json, confusion_matrix.png, roc_curve.png and test_predictions.csv.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Model Evaluation — Current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Metrics from one fixed held-out test split; not a clinical validation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Selected model: Logistic Regression (selected by training cross-validation ROC-AUC).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Test accuracy: 86.9%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Test precision: 90.3%  |  Test recall: 84.8%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Test F1-score: 87.5%  |  Test ROC-AUC: 0.905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Training CV ROC-AUC mean: 0.927 (5 folds).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Interpretation: report multiple metrics; false negatives/positives matter, and external validation is still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Prototype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1. Run `python train_model.py` to reproduce training and generate evaluation artifacts.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2. Run `python test_smoke.py` to verify that the saved pipeline loads and predicts.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3. Run `streamlit run app.py` to open the interactive application in a browser.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4. Enter sample feature codes and values; inspect the predicted class and model probability.</a:t>
            </a:r>
          </a:p>
          <a:p>
            <a:pPr>
              <a:spcAft>
                <a:spcPts val="1300"/>
              </a:spcAft>
              <a:defRPr sz="2100">
                <a:solidFill>
                  <a:srgbClr val="2D323C"/>
                </a:solidFill>
              </a:defRPr>
            </a:pPr>
            <a:r>
              <a:t>5. Review the comparison table and confusion matrix / ROC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65C"/>
                </a:solidFill>
              </a:defRPr>
            </a:pPr>
            <a:r>
              <a:t>Industry Readiness,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23C"/>
                </a:solidFill>
              </a:defRPr>
            </a:pPr>
            <a:r>
              <a:t>Current outcome: a reproducible academic prototype with saved model, metrics, plots and interactive UI.</a:t>
            </a:r>
          </a:p>
          <a:p>
            <a:pPr>
              <a:spcAft>
                <a:spcPts val="1300"/>
              </a:spcAft>
              <a:defRPr sz="1900">
                <a:solidFill>
                  <a:srgbClr val="2D323C"/>
                </a:solidFill>
              </a:defRPr>
            </a:pPr>
            <a:r>
              <a:t>Limitations: small dataset after deduplication, uncertain provenance/representativeness, no external validation, calibration or subgroup audit.</a:t>
            </a:r>
          </a:p>
          <a:p>
            <a:pPr>
              <a:spcAft>
                <a:spcPts val="1300"/>
              </a:spcAft>
              <a:defRPr sz="1900">
                <a:solidFill>
                  <a:srgbClr val="2D323C"/>
                </a:solidFill>
              </a:defRPr>
            </a:pPr>
            <a:r>
              <a:t>Next steps: independent validation, verified data dictionary, probability calibration, threshold analysis, unit tests, model/data versioning and monitoring.</a:t>
            </a:r>
          </a:p>
          <a:p>
            <a:pPr>
              <a:spcAft>
                <a:spcPts val="1300"/>
              </a:spcAft>
              <a:defRPr sz="1900">
                <a:solidFill>
                  <a:srgbClr val="2D323C"/>
                </a:solidFill>
              </a:defRPr>
            </a:pPr>
            <a:r>
              <a:t>No paper, patent, commercial product release or clinical approval is claimed unless separately completed.</a:t>
            </a:r>
          </a:p>
          <a:p>
            <a:pPr>
              <a:spcAft>
                <a:spcPts val="1300"/>
              </a:spcAft>
              <a:defRPr sz="1900">
                <a:solidFill>
                  <a:srgbClr val="2D323C"/>
                </a:solidFill>
              </a:defRPr>
            </a:pPr>
            <a:r>
              <a:t>Safety statement: output is not a diagnosis; users should consult qualified healthcare professionals.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